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4"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76" autoAdjust="0"/>
    <p:restoredTop sz="94610"/>
  </p:normalViewPr>
  <p:slideViewPr>
    <p:cSldViewPr snapToGrid="0" snapToObjects="1">
      <p:cViewPr varScale="1">
        <p:scale>
          <a:sx n="86" d="100"/>
          <a:sy n="86" d="100"/>
        </p:scale>
        <p:origin x="103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2263F"/>
                </a:solidFill>
                <a:latin typeface="Arial"/>
              </a:defRPr>
            </a:pPr>
            <a:r>
              <a:rPr lang="en-US" sz="1200" b="0" i="0" u="none" strike="noStrike">
                <a:solidFill>
                  <a:srgbClr val="12263F"/>
                </a:solidFill>
                <a:latin typeface="Arial"/>
              </a:rPr>
              <a:t>Top categories by revenue ($M)</a:t>
            </a:r>
          </a:p>
        </c:rich>
      </c:tx>
      <c:overlay val="0"/>
    </c:title>
    <c:autoTitleDeleted val="0"/>
    <c:plotArea>
      <c:layout/>
      <c:barChart>
        <c:barDir val="col"/>
        <c:grouping val="clustered"/>
        <c:varyColors val="0"/>
        <c:ser>
          <c:idx val="0"/>
          <c:order val="0"/>
          <c:tx>
            <c:strRef>
              <c:f>Sheet1!$B$1</c:f>
              <c:strCache>
                <c:ptCount val="1"/>
                <c:pt idx="0">
                  <c:v>Revenue ($M)</c:v>
                </c:pt>
              </c:strCache>
            </c:strRef>
          </c:tx>
          <c:spPr>
            <a:solidFill>
              <a:srgbClr val="0F9D9A"/>
            </a:solidFill>
            <a:effectLst/>
          </c:spPr>
          <c:invertIfNegative val="0"/>
          <c:dLbls>
            <c:numFmt formatCode="0.00" sourceLinked="0"/>
            <c:spPr>
              <a:noFill/>
              <a:ln>
                <a:noFill/>
              </a:ln>
              <a:effectLst/>
            </c:spPr>
            <c:txPr>
              <a:bodyPr/>
              <a:lstStyle/>
              <a:p>
                <a:pPr>
                  <a:defRPr sz="1000" b="0" i="0" u="none" strike="noStrike">
                    <a:solidFill>
                      <a:srgbClr val="1B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Mountain</c:v>
                </c:pt>
                <c:pt idx="1">
                  <c:v>Road</c:v>
                </c:pt>
                <c:pt idx="2">
                  <c:v>Cruisers</c:v>
                </c:pt>
                <c:pt idx="3">
                  <c:v>Electric</c:v>
                </c:pt>
              </c:strCache>
            </c:strRef>
          </c:cat>
          <c:val>
            <c:numRef>
              <c:f>Sheet1!$B$2:$B$5</c:f>
              <c:numCache>
                <c:formatCode>General</c:formatCode>
                <c:ptCount val="4"/>
                <c:pt idx="0">
                  <c:v>3.03</c:v>
                </c:pt>
                <c:pt idx="1">
                  <c:v>1.85</c:v>
                </c:pt>
                <c:pt idx="2">
                  <c:v>1.1100000000000001</c:v>
                </c:pt>
                <c:pt idx="3">
                  <c:v>1.02</c:v>
                </c:pt>
              </c:numCache>
            </c:numRef>
          </c:val>
          <c:extLst>
            <c:ext xmlns:c16="http://schemas.microsoft.com/office/drawing/2014/chart" uri="{C3380CC4-5D6E-409C-BE32-E72D297353CC}">
              <c16:uniqueId val="{00000000-0476-4240-9691-6008CA5669D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1E7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2263F"/>
                </a:solidFill>
                <a:latin typeface="Arial"/>
              </a:defRPr>
            </a:pPr>
            <a:r>
              <a:rPr lang="en-IN" sz="1200" b="0" i="0" u="none" strike="noStrike">
                <a:solidFill>
                  <a:srgbClr val="12263F"/>
                </a:solidFill>
                <a:latin typeface="Arial"/>
              </a:rPr>
              <a:t>Customers by RFM segment</a:t>
            </a:r>
          </a:p>
        </c:rich>
      </c:tx>
      <c:overlay val="0"/>
    </c:title>
    <c:autoTitleDeleted val="0"/>
    <c:plotArea>
      <c:layout/>
      <c:barChart>
        <c:barDir val="bar"/>
        <c:grouping val="clustered"/>
        <c:varyColors val="0"/>
        <c:ser>
          <c:idx val="0"/>
          <c:order val="0"/>
          <c:tx>
            <c:strRef>
              <c:f>Sheet1!$B$1</c:f>
              <c:strCache>
                <c:ptCount val="1"/>
                <c:pt idx="0">
                  <c:v>Customers</c:v>
                </c:pt>
              </c:strCache>
            </c:strRef>
          </c:tx>
          <c:spPr>
            <a:solidFill>
              <a:srgbClr val="12263F"/>
            </a:solidFill>
            <a:effectLst/>
          </c:spPr>
          <c:invertIfNegative val="0"/>
          <c:dLbls>
            <c:numFmt formatCode="#,##0" sourceLinked="0"/>
            <c:spPr>
              <a:noFill/>
              <a:ln>
                <a:noFill/>
              </a:ln>
              <a:effectLst/>
            </c:spPr>
            <c:txPr>
              <a:bodyPr/>
              <a:lstStyle/>
              <a:p>
                <a:pPr>
                  <a:defRPr sz="1000" b="0" i="0" u="none" strike="noStrike">
                    <a:solidFill>
                      <a:srgbClr val="1B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Potential</c:v>
                </c:pt>
                <c:pt idx="1">
                  <c:v>Loyal</c:v>
                </c:pt>
                <c:pt idx="2">
                  <c:v>Champions</c:v>
                </c:pt>
                <c:pt idx="3">
                  <c:v>At Risk</c:v>
                </c:pt>
                <c:pt idx="4">
                  <c:v>Lost</c:v>
                </c:pt>
              </c:strCache>
            </c:strRef>
          </c:cat>
          <c:val>
            <c:numRef>
              <c:f>Sheet1!$B$2:$B$6</c:f>
              <c:numCache>
                <c:formatCode>General</c:formatCode>
                <c:ptCount val="5"/>
                <c:pt idx="0">
                  <c:v>472</c:v>
                </c:pt>
                <c:pt idx="1">
                  <c:v>405</c:v>
                </c:pt>
                <c:pt idx="2">
                  <c:v>278</c:v>
                </c:pt>
                <c:pt idx="3">
                  <c:v>262</c:v>
                </c:pt>
                <c:pt idx="4">
                  <c:v>28</c:v>
                </c:pt>
              </c:numCache>
            </c:numRef>
          </c:val>
          <c:extLst>
            <c:ext xmlns:c16="http://schemas.microsoft.com/office/drawing/2014/chart" uri="{C3380CC4-5D6E-409C-BE32-E72D297353CC}">
              <c16:uniqueId val="{00000000-8F6C-4726-8B96-6105540D8DF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1E7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2263F"/>
                </a:solidFill>
                <a:latin typeface="Arial"/>
              </a:defRPr>
            </a:pPr>
            <a:r>
              <a:rPr lang="en-IN" sz="1200" b="0" i="0" u="none" strike="noStrike">
                <a:solidFill>
                  <a:srgbClr val="12263F"/>
                </a:solidFill>
                <a:latin typeface="Arial"/>
              </a:rPr>
              <a:t>Revenue by store ($M)</a:t>
            </a:r>
          </a:p>
        </c:rich>
      </c:tx>
      <c:overlay val="0"/>
    </c:title>
    <c:autoTitleDeleted val="0"/>
    <c:plotArea>
      <c:layout/>
      <c:barChart>
        <c:barDir val="col"/>
        <c:grouping val="clustered"/>
        <c:varyColors val="0"/>
        <c:ser>
          <c:idx val="0"/>
          <c:order val="0"/>
          <c:tx>
            <c:strRef>
              <c:f>Sheet1!$B$1</c:f>
              <c:strCache>
                <c:ptCount val="1"/>
                <c:pt idx="0">
                  <c:v>Revenue ($M)</c:v>
                </c:pt>
              </c:strCache>
            </c:strRef>
          </c:tx>
          <c:spPr>
            <a:solidFill>
              <a:srgbClr val="0F9D9A"/>
            </a:solidFill>
            <a:effectLst/>
          </c:spPr>
          <c:invertIfNegative val="0"/>
          <c:dLbls>
            <c:numFmt formatCode="0.00" sourceLinked="0"/>
            <c:spPr>
              <a:noFill/>
              <a:ln>
                <a:noFill/>
              </a:ln>
              <a:effectLst/>
            </c:spPr>
            <c:txPr>
              <a:bodyPr/>
              <a:lstStyle/>
              <a:p>
                <a:pPr>
                  <a:defRPr sz="1000" b="0" i="0" u="none" strike="noStrike">
                    <a:solidFill>
                      <a:srgbClr val="1B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Baldwin</c:v>
                </c:pt>
                <c:pt idx="1">
                  <c:v>Santa Cruz</c:v>
                </c:pt>
                <c:pt idx="2">
                  <c:v>Rowlett</c:v>
                </c:pt>
              </c:strCache>
            </c:strRef>
          </c:cat>
          <c:val>
            <c:numRef>
              <c:f>Sheet1!$B$2:$B$4</c:f>
              <c:numCache>
                <c:formatCode>General</c:formatCode>
                <c:ptCount val="3"/>
                <c:pt idx="0">
                  <c:v>5.83</c:v>
                </c:pt>
                <c:pt idx="1">
                  <c:v>1.79</c:v>
                </c:pt>
                <c:pt idx="2">
                  <c:v>0.96</c:v>
                </c:pt>
              </c:numCache>
            </c:numRef>
          </c:val>
          <c:extLst>
            <c:ext xmlns:c16="http://schemas.microsoft.com/office/drawing/2014/chart" uri="{C3380CC4-5D6E-409C-BE32-E72D297353CC}">
              <c16:uniqueId val="{00000000-6EFB-4F59-A075-0A8D95AF7DF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1E7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0738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Deepak, and I'm a data analyst with Vinsup Skill. Today I'll present my capstone project: a complete sales analytics solution for a three-store bicycle retailer. I worked through it in four phases: Excel, SQL, Python, and finally a Power BI dashboard. Over the next five minutes I'll walk you through each phase, show what I built, and finish with the insights and recommendations that the business can act on straight away.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one was Excel. I brought together ten tables: brands, categories, products, customers, orders, order items, staff, stores and stocks. I cleaned them, calculated the total price for every order line after discount, and built pivot tables. This already showed that Mountain Bikes lead all categories with about 3 million dollars. Excel gave me a quick way to understand the data before moving to code. It also proved that the numbers were reliable, so every later phase could build on a clean and trusted foundation.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two was SQL. I built a MySQL database called capstone with proper keys and joined orders, items and products. I wrote queries for sales by store, the top five products, revenue per customer and per staff member, spending segments of low, medium and high, and a low stock alert for items under 10 units. SQL is where the analysis became repeatable. Instead of manual filtering, each business question is now a query that can be re-run whenever new orders arrive, and the results feed directly into the next phase.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three was Python. Using pandas and SQLAlchemy, I pulled data from MySQL, fixed the dates, and built an RFM model: Recency, Frequency and Monetary value, each scored one to four. That gave five segments. 278 Champions, 405 Loyal, 472 Potential Loyalists, 262 At Risk and 28 Lost customers. I saved the result back to SQL. This step matters because not all customers are equal. Champions buy recently, often and with high value, while At Risk customers have gone quiet. Knowing who is who tells the business exactly where to focus its marketing effort.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four is the Power BI dashboard, which brings everything together. It has six pages with KPI cards, revenue by store and state, category and product performance, staff results and customer segments. Slicers let a manager filter by store, year or category and get answers in seconds. I connected the SQL tables and the segment results so the dashboard always uses the same trusted numbers. A store manager does not need to write code; they just click and explore, which is the real purpose of a dashboard.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key insights. Baldwin Bikes in New York generates about 5.8 million dollars, nearly 68 percent of all revenue, while Santa Cruz and Rowlett trail far behind. Mountain Bikes are the top category at 35 percent. Revenue peaked in 2017 at 3.8 million dollars. Together these findings show where the money comes from and where the opportunity lies. The smaller stores are not failing so much as under-used, and that is a growth opportunity rather than a problem.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first, learn from Baldwin's success and lift Rowlett and Santa Cruz. Second, run a win-back campaign for the 262 At Risk customers. Third, restock products under 10 units. Thank you for listening. I'm Deepak from Vinsup Skill, and I'm happy to take your questions. Every phase of this project connects: Excel prepared the data, SQL organised it, Python found patterns, and Power BI made them visible. That is the workflow I want to bring to my work as a data analyst.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F"/>
        </a:solidFill>
        <a:effectLst/>
      </p:bgPr>
    </p:bg>
    <p:spTree>
      <p:nvGrpSpPr>
        <p:cNvPr id="1" name=""/>
        <p:cNvGrpSpPr/>
        <p:nvPr/>
      </p:nvGrpSpPr>
      <p:grpSpPr>
        <a:xfrm>
          <a:off x="0" y="0"/>
          <a:ext cx="0" cy="0"/>
          <a:chOff x="0" y="0"/>
          <a:chExt cx="0" cy="0"/>
        </a:xfrm>
      </p:grpSpPr>
      <p:sp>
        <p:nvSpPr>
          <p:cNvPr id="2" name="Text 0"/>
          <p:cNvSpPr txBox="1"/>
          <p:nvPr/>
        </p:nvSpPr>
        <p:spPr>
          <a:xfrm>
            <a:off x="640080" y="1188720"/>
            <a:ext cx="7863840" cy="82296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 Retail Sales Analytics</a:t>
            </a:r>
            <a:endParaRPr lang="en-US" sz="4000" dirty="0"/>
          </a:p>
        </p:txBody>
      </p:sp>
      <p:sp>
        <p:nvSpPr>
          <p:cNvPr id="3" name="Text 1"/>
          <p:cNvSpPr txBox="1"/>
          <p:nvPr/>
        </p:nvSpPr>
        <p:spPr>
          <a:xfrm>
            <a:off x="640080" y="2057400"/>
            <a:ext cx="7863840" cy="411480"/>
          </a:xfrm>
          <a:prstGeom prst="rect">
            <a:avLst/>
          </a:prstGeom>
          <a:noFill/>
          <a:ln/>
        </p:spPr>
        <p:txBody>
          <a:bodyPr wrap="square" lIns="0" tIns="0" rIns="0" bIns="0" rtlCol="0" anchor="ctr"/>
          <a:lstStyle/>
          <a:p>
            <a:pPr marL="0" indent="0">
              <a:buNone/>
            </a:pPr>
            <a:r>
              <a:rPr lang="en-US" sz="1800" dirty="0">
                <a:solidFill>
                  <a:srgbClr val="BFD3E6"/>
                </a:solidFill>
                <a:latin typeface="Calibri" pitchFamily="34" charset="0"/>
                <a:ea typeface="Calibri" pitchFamily="34" charset="-122"/>
                <a:cs typeface="Calibri" pitchFamily="34" charset="-120"/>
              </a:rPr>
              <a:t>Capstone final presentation: Excel, SQL, Python and Power BI</a:t>
            </a:r>
            <a:endParaRPr lang="en-US" sz="1800" dirty="0"/>
          </a:p>
        </p:txBody>
      </p:sp>
      <p:sp>
        <p:nvSpPr>
          <p:cNvPr id="4" name="Text 2"/>
          <p:cNvSpPr txBox="1"/>
          <p:nvPr/>
        </p:nvSpPr>
        <p:spPr>
          <a:xfrm>
            <a:off x="7337503" y="4411980"/>
            <a:ext cx="1605775" cy="365760"/>
          </a:xfrm>
          <a:prstGeom prst="rect">
            <a:avLst/>
          </a:prstGeom>
          <a:noFill/>
          <a:ln/>
        </p:spPr>
        <p:txBody>
          <a:bodyPr wrap="square" lIns="0" tIns="0" rIns="0" bIns="0" rtlCol="0" anchor="ctr"/>
          <a:lstStyle/>
          <a:p>
            <a:pPr marL="0" indent="0">
              <a:buNone/>
            </a:pPr>
            <a:r>
              <a:rPr lang="en-US" sz="2000" b="1" dirty="0">
                <a:solidFill>
                  <a:srgbClr val="F2994A"/>
                </a:solidFill>
                <a:latin typeface="Calibri" pitchFamily="34" charset="0"/>
                <a:ea typeface="Calibri" pitchFamily="34" charset="-122"/>
                <a:cs typeface="Calibri" pitchFamily="34" charset="-120"/>
              </a:rPr>
              <a:t>PRESENTED BY</a:t>
            </a:r>
          </a:p>
          <a:p>
            <a:pPr marL="0" indent="0">
              <a:buNone/>
            </a:pPr>
            <a:r>
              <a:rPr lang="en-US" sz="2800" b="1" dirty="0">
                <a:solidFill>
                  <a:srgbClr val="F2994A"/>
                </a:solidFill>
                <a:latin typeface="Calibri" pitchFamily="34" charset="0"/>
                <a:ea typeface="Calibri" pitchFamily="34" charset="-122"/>
                <a:cs typeface="Calibri" pitchFamily="34" charset="-120"/>
              </a:rPr>
              <a:t>Deepak .N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D86DC2-507F-F1A1-DA27-78753421AA58}"/>
              </a:ext>
            </a:extLst>
          </p:cNvPr>
          <p:cNvPicPr>
            <a:picLocks noChangeAspect="1"/>
          </p:cNvPicPr>
          <p:nvPr/>
        </p:nvPicPr>
        <p:blipFill>
          <a:blip r:embed="rId2"/>
          <a:stretch>
            <a:fillRect/>
          </a:stretch>
        </p:blipFill>
        <p:spPr>
          <a:xfrm>
            <a:off x="0" y="11151"/>
            <a:ext cx="9116820" cy="4876800"/>
          </a:xfrm>
          <a:prstGeom prst="rect">
            <a:avLst/>
          </a:prstGeom>
        </p:spPr>
      </p:pic>
    </p:spTree>
    <p:extLst>
      <p:ext uri="{BB962C8B-B14F-4D97-AF65-F5344CB8AC3E}">
        <p14:creationId xmlns:p14="http://schemas.microsoft.com/office/powerpoint/2010/main" val="2752714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marL="0" indent="0">
              <a:buNone/>
            </a:pPr>
            <a:r>
              <a:rPr lang="en-US" sz="2800" b="1" dirty="0">
                <a:solidFill>
                  <a:srgbClr val="12263F"/>
                </a:solidFill>
                <a:latin typeface="Calibri" pitchFamily="34" charset="0"/>
                <a:ea typeface="Calibri" pitchFamily="34" charset="-122"/>
                <a:cs typeface="Calibri" pitchFamily="34" charset="-120"/>
              </a:rPr>
              <a:t>Phase 1: Excel</a:t>
            </a:r>
            <a:endParaRPr lang="en-US" sz="2800" dirty="0"/>
          </a:p>
        </p:txBody>
      </p:sp>
      <p:sp>
        <p:nvSpPr>
          <p:cNvPr id="3" name="Text 1"/>
          <p:cNvSpPr txBox="1"/>
          <p:nvPr/>
        </p:nvSpPr>
        <p:spPr>
          <a:xfrm>
            <a:off x="548640" y="868680"/>
            <a:ext cx="8046720" cy="320040"/>
          </a:xfrm>
          <a:prstGeom prst="rect">
            <a:avLst/>
          </a:prstGeom>
          <a:noFill/>
          <a:ln/>
        </p:spPr>
        <p:txBody>
          <a:bodyPr wrap="square" lIns="0" tIns="0" rIns="0" bIns="0" rtlCol="0" anchor="ctr"/>
          <a:lstStyle/>
          <a:p>
            <a:pPr marL="0" indent="0">
              <a:buNone/>
            </a:pPr>
            <a:r>
              <a:rPr lang="en-US" sz="1400" dirty="0">
                <a:solidFill>
                  <a:srgbClr val="5B6B7B"/>
                </a:solidFill>
                <a:latin typeface="Calibri" pitchFamily="34" charset="0"/>
                <a:ea typeface="Calibri" pitchFamily="34" charset="-122"/>
                <a:cs typeface="Calibri" pitchFamily="34" charset="-120"/>
              </a:rPr>
              <a:t>Data preparation and first analysis</a:t>
            </a:r>
            <a:endParaRPr lang="en-US" sz="1400" dirty="0"/>
          </a:p>
        </p:txBody>
      </p:sp>
      <p:sp>
        <p:nvSpPr>
          <p:cNvPr id="4" name="Text 2"/>
          <p:cNvSpPr txBox="1"/>
          <p:nvPr/>
        </p:nvSpPr>
        <p:spPr>
          <a:xfrm>
            <a:off x="548640" y="1371600"/>
            <a:ext cx="420624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Combined 10 tables: brands, categories, products, customers, orders, order items, staffs, stores, stocks</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Cleaned data and calculated Total price after discount for each order line</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Built pivot tables of sales by category</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Prepared the clean tables for the SQL database</a:t>
            </a:r>
            <a:endParaRPr lang="en-US" sz="1400" dirty="0"/>
          </a:p>
        </p:txBody>
      </p:sp>
      <p:graphicFrame>
        <p:nvGraphicFramePr>
          <p:cNvPr id="5" name="Chart 0"/>
          <p:cNvGraphicFramePr/>
          <p:nvPr/>
        </p:nvGraphicFramePr>
        <p:xfrm>
          <a:off x="5029200" y="1371600"/>
          <a:ext cx="36576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8138160" y="4754880"/>
            <a:ext cx="457200" cy="22860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marL="0" indent="0">
              <a:buNone/>
            </a:pPr>
            <a:r>
              <a:rPr lang="en-US" sz="2800" b="1" dirty="0">
                <a:solidFill>
                  <a:srgbClr val="12263F"/>
                </a:solidFill>
                <a:latin typeface="Calibri" pitchFamily="34" charset="0"/>
                <a:ea typeface="Calibri" pitchFamily="34" charset="-122"/>
                <a:cs typeface="Calibri" pitchFamily="34" charset="-120"/>
              </a:rPr>
              <a:t>Phase 2: SQL</a:t>
            </a:r>
            <a:endParaRPr lang="en-US" sz="2800" dirty="0"/>
          </a:p>
        </p:txBody>
      </p:sp>
      <p:sp>
        <p:nvSpPr>
          <p:cNvPr id="3" name="Text 1"/>
          <p:cNvSpPr txBox="1"/>
          <p:nvPr/>
        </p:nvSpPr>
        <p:spPr>
          <a:xfrm>
            <a:off x="548640" y="868680"/>
            <a:ext cx="8046720" cy="320040"/>
          </a:xfrm>
          <a:prstGeom prst="rect">
            <a:avLst/>
          </a:prstGeom>
          <a:noFill/>
          <a:ln/>
        </p:spPr>
        <p:txBody>
          <a:bodyPr wrap="square" lIns="0" tIns="0" rIns="0" bIns="0" rtlCol="0" anchor="ctr"/>
          <a:lstStyle/>
          <a:p>
            <a:pPr marL="0" indent="0">
              <a:buNone/>
            </a:pPr>
            <a:r>
              <a:rPr lang="en-US" sz="1400" dirty="0">
                <a:solidFill>
                  <a:srgbClr val="5B6B7B"/>
                </a:solidFill>
                <a:latin typeface="Calibri" pitchFamily="34" charset="0"/>
                <a:ea typeface="Calibri" pitchFamily="34" charset="-122"/>
                <a:cs typeface="Calibri" pitchFamily="34" charset="-120"/>
              </a:rPr>
              <a:t>MySQL database "capstone" with keys and joined tables</a:t>
            </a:r>
            <a:endParaRPr lang="en-US" sz="1400" dirty="0"/>
          </a:p>
        </p:txBody>
      </p:sp>
      <p:sp>
        <p:nvSpPr>
          <p:cNvPr id="23" name="Text 21"/>
          <p:cNvSpPr txBox="1"/>
          <p:nvPr/>
        </p:nvSpPr>
        <p:spPr>
          <a:xfrm>
            <a:off x="8138160" y="4754880"/>
            <a:ext cx="457200" cy="22860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4</a:t>
            </a:r>
            <a:endParaRPr lang="en-US" sz="1000" dirty="0"/>
          </a:p>
        </p:txBody>
      </p:sp>
      <p:sp>
        <p:nvSpPr>
          <p:cNvPr id="25" name="TextBox 24">
            <a:extLst>
              <a:ext uri="{FF2B5EF4-FFF2-40B4-BE49-F238E27FC236}">
                <a16:creationId xmlns:a16="http://schemas.microsoft.com/office/drawing/2014/main" id="{E79333F1-F022-6924-E92F-164D99E1B800}"/>
              </a:ext>
            </a:extLst>
          </p:cNvPr>
          <p:cNvSpPr txBox="1"/>
          <p:nvPr/>
        </p:nvSpPr>
        <p:spPr>
          <a:xfrm>
            <a:off x="9021337" y="4393580"/>
            <a:ext cx="184731" cy="369332"/>
          </a:xfrm>
          <a:prstGeom prst="rect">
            <a:avLst/>
          </a:prstGeom>
          <a:noFill/>
        </p:spPr>
        <p:txBody>
          <a:bodyPr wrap="none" rtlCol="0">
            <a:spAutoFit/>
          </a:bodyPr>
          <a:lstStyle/>
          <a:p>
            <a:endParaRPr lang="en-IN" dirty="0"/>
          </a:p>
        </p:txBody>
      </p:sp>
      <p:sp>
        <p:nvSpPr>
          <p:cNvPr id="26" name="TextBox 25">
            <a:extLst>
              <a:ext uri="{FF2B5EF4-FFF2-40B4-BE49-F238E27FC236}">
                <a16:creationId xmlns:a16="http://schemas.microsoft.com/office/drawing/2014/main" id="{61372F08-0D4F-7B47-C51F-8D9770ED838B}"/>
              </a:ext>
            </a:extLst>
          </p:cNvPr>
          <p:cNvSpPr txBox="1"/>
          <p:nvPr/>
        </p:nvSpPr>
        <p:spPr>
          <a:xfrm>
            <a:off x="461772" y="1445952"/>
            <a:ext cx="6430735" cy="2492990"/>
          </a:xfrm>
          <a:prstGeom prst="rect">
            <a:avLst/>
          </a:prstGeom>
          <a:noFill/>
        </p:spPr>
        <p:txBody>
          <a:bodyPr wrap="none" rtlCol="0">
            <a:spAutoFit/>
          </a:bodyPr>
          <a:lstStyle/>
          <a:p>
            <a:r>
              <a:rPr lang="en-US" sz="1400" dirty="0"/>
              <a:t>Imported the cleaned CSV data into the database.</a:t>
            </a:r>
          </a:p>
          <a:p>
            <a:endParaRPr lang="en-US" dirty="0"/>
          </a:p>
          <a:p>
            <a:r>
              <a:rPr lang="en-US" sz="1400" dirty="0"/>
              <a:t>Created relationship between tables using primary and foreign keys</a:t>
            </a:r>
          </a:p>
          <a:p>
            <a:endParaRPr lang="en-US" sz="1400" dirty="0"/>
          </a:p>
          <a:p>
            <a:r>
              <a:rPr lang="en-US" sz="1400" dirty="0"/>
              <a:t>Used joins to combined the orders, order items and products completing information.</a:t>
            </a:r>
          </a:p>
          <a:p>
            <a:endParaRPr lang="en-US" sz="1400" dirty="0"/>
          </a:p>
          <a:p>
            <a:r>
              <a:rPr lang="en-US" sz="1400" dirty="0"/>
              <a:t> I analyzed staff performance ,customer spending  and stock levels.</a:t>
            </a:r>
          </a:p>
          <a:p>
            <a:endParaRPr lang="en-US" dirty="0"/>
          </a:p>
          <a:p>
            <a:r>
              <a:rPr lang="en-US" dirty="0"/>
              <a:t>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marL="0" indent="0">
              <a:buNone/>
            </a:pPr>
            <a:r>
              <a:rPr lang="en-US" sz="2800" b="1" dirty="0">
                <a:solidFill>
                  <a:srgbClr val="12263F"/>
                </a:solidFill>
                <a:latin typeface="Calibri" pitchFamily="34" charset="0"/>
                <a:ea typeface="Calibri" pitchFamily="34" charset="-122"/>
                <a:cs typeface="Calibri" pitchFamily="34" charset="-120"/>
              </a:rPr>
              <a:t>Phase 3: Python</a:t>
            </a:r>
            <a:endParaRPr lang="en-US" sz="2800" dirty="0"/>
          </a:p>
        </p:txBody>
      </p:sp>
      <p:sp>
        <p:nvSpPr>
          <p:cNvPr id="3" name="Text 1"/>
          <p:cNvSpPr txBox="1"/>
          <p:nvPr/>
        </p:nvSpPr>
        <p:spPr>
          <a:xfrm>
            <a:off x="548640" y="868680"/>
            <a:ext cx="8046720" cy="320040"/>
          </a:xfrm>
          <a:prstGeom prst="rect">
            <a:avLst/>
          </a:prstGeom>
          <a:noFill/>
          <a:ln/>
        </p:spPr>
        <p:txBody>
          <a:bodyPr wrap="square" lIns="0" tIns="0" rIns="0" bIns="0" rtlCol="0" anchor="ctr"/>
          <a:lstStyle/>
          <a:p>
            <a:pPr marL="0" indent="0">
              <a:buNone/>
            </a:pPr>
            <a:r>
              <a:rPr lang="en-US" sz="1400" dirty="0">
                <a:solidFill>
                  <a:srgbClr val="5B6B7B"/>
                </a:solidFill>
                <a:latin typeface="Calibri" pitchFamily="34" charset="0"/>
                <a:ea typeface="Calibri" pitchFamily="34" charset="-122"/>
                <a:cs typeface="Calibri" pitchFamily="34" charset="-120"/>
              </a:rPr>
              <a:t>RFM customer segmentation</a:t>
            </a:r>
            <a:endParaRPr lang="en-US" sz="1400" dirty="0"/>
          </a:p>
        </p:txBody>
      </p:sp>
      <p:sp>
        <p:nvSpPr>
          <p:cNvPr id="4" name="Text 2"/>
          <p:cNvSpPr txBox="1"/>
          <p:nvPr/>
        </p:nvSpPr>
        <p:spPr>
          <a:xfrm>
            <a:off x="548640" y="1371600"/>
            <a:ext cx="420624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pandas and SQLAlchemy read the data from MySQL</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Fixed date formats and merged orders with items</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Scored customer RFM features: Recency, Frequency and Monetary value of customers</a:t>
            </a:r>
            <a:endParaRPr lang="en-US" sz="1400" dirty="0"/>
          </a:p>
          <a:p>
            <a:pPr marL="342900" indent="-342900">
              <a:spcAft>
                <a:spcPts val="800"/>
              </a:spcAft>
              <a:buSzPct val="100000"/>
              <a:buChar char="•"/>
            </a:pPr>
            <a:r>
              <a:rPr lang="en-US" sz="1400" dirty="0"/>
              <a:t>Used customer RFM features for customer segmentation</a:t>
            </a:r>
          </a:p>
          <a:p>
            <a:pPr marL="342900" indent="-342900">
              <a:spcAft>
                <a:spcPts val="800"/>
              </a:spcAft>
              <a:buSzPct val="100000"/>
              <a:buChar char="•"/>
            </a:pPr>
            <a:endParaRPr lang="en-US" sz="1400" dirty="0"/>
          </a:p>
        </p:txBody>
      </p:sp>
      <p:graphicFrame>
        <p:nvGraphicFramePr>
          <p:cNvPr id="5" name="Chart 0"/>
          <p:cNvGraphicFramePr/>
          <p:nvPr/>
        </p:nvGraphicFramePr>
        <p:xfrm>
          <a:off x="5029200" y="1371600"/>
          <a:ext cx="36576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8138160" y="4754880"/>
            <a:ext cx="457200" cy="22860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marL="0" indent="0">
              <a:buNone/>
            </a:pPr>
            <a:r>
              <a:rPr lang="en-US" sz="2800" b="1" dirty="0">
                <a:solidFill>
                  <a:srgbClr val="12263F"/>
                </a:solidFill>
                <a:latin typeface="Calibri" pitchFamily="34" charset="0"/>
                <a:ea typeface="Calibri" pitchFamily="34" charset="-122"/>
                <a:cs typeface="Calibri" pitchFamily="34" charset="-120"/>
              </a:rPr>
              <a:t>Phase 4: Power BI Dashboard</a:t>
            </a:r>
            <a:endParaRPr lang="en-US" sz="2800" dirty="0"/>
          </a:p>
        </p:txBody>
      </p:sp>
      <p:sp>
        <p:nvSpPr>
          <p:cNvPr id="3" name="Text 1"/>
          <p:cNvSpPr txBox="1"/>
          <p:nvPr/>
        </p:nvSpPr>
        <p:spPr>
          <a:xfrm>
            <a:off x="548640" y="868680"/>
            <a:ext cx="8046720" cy="320040"/>
          </a:xfrm>
          <a:prstGeom prst="rect">
            <a:avLst/>
          </a:prstGeom>
          <a:noFill/>
          <a:ln/>
        </p:spPr>
        <p:txBody>
          <a:bodyPr wrap="square" lIns="0" tIns="0" rIns="0" bIns="0" rtlCol="0" anchor="ctr"/>
          <a:lstStyle/>
          <a:p>
            <a:pPr marL="0" indent="0">
              <a:buNone/>
            </a:pPr>
            <a:r>
              <a:rPr lang="en-US" sz="1400" dirty="0">
                <a:solidFill>
                  <a:srgbClr val="5B6B7B"/>
                </a:solidFill>
                <a:latin typeface="Calibri" pitchFamily="34" charset="0"/>
                <a:ea typeface="Calibri" pitchFamily="34" charset="-122"/>
                <a:cs typeface="Calibri" pitchFamily="34" charset="-120"/>
              </a:rPr>
              <a:t>Everything in one interactive report</a:t>
            </a:r>
            <a:endParaRPr lang="en-US" sz="1400" dirty="0"/>
          </a:p>
        </p:txBody>
      </p:sp>
      <p:sp>
        <p:nvSpPr>
          <p:cNvPr id="4" name="Shape 2"/>
          <p:cNvSpPr/>
          <p:nvPr/>
        </p:nvSpPr>
        <p:spPr>
          <a:xfrm>
            <a:off x="548640" y="1371600"/>
            <a:ext cx="1874520" cy="960120"/>
          </a:xfrm>
          <a:prstGeom prst="roundRect">
            <a:avLst>
              <a:gd name="adj" fmla="val 7619"/>
            </a:avLst>
          </a:prstGeom>
          <a:solidFill>
            <a:srgbClr val="EEF3F7"/>
          </a:solidFill>
          <a:ln/>
          <a:effectLst>
            <a:outerShdw blurRad="76200" dist="25400" dir="5400000" algn="bl" rotWithShape="0">
              <a:srgbClr val="000000">
                <a:alpha val="12000"/>
              </a:srgbClr>
            </a:outerShdw>
          </a:effectLst>
        </p:spPr>
        <p:txBody>
          <a:bodyPr/>
          <a:lstStyle/>
          <a:p>
            <a:endParaRPr lang="en-IN"/>
          </a:p>
        </p:txBody>
      </p:sp>
      <p:sp>
        <p:nvSpPr>
          <p:cNvPr id="5" name="Text 3"/>
          <p:cNvSpPr txBox="1"/>
          <p:nvPr/>
        </p:nvSpPr>
        <p:spPr>
          <a:xfrm>
            <a:off x="548640" y="1463040"/>
            <a:ext cx="1874520" cy="502920"/>
          </a:xfrm>
          <a:prstGeom prst="rect">
            <a:avLst/>
          </a:prstGeom>
          <a:noFill/>
          <a:ln/>
        </p:spPr>
        <p:txBody>
          <a:bodyPr wrap="square" lIns="0" tIns="0" rIns="0" bIns="0" rtlCol="0" anchor="ctr"/>
          <a:lstStyle/>
          <a:p>
            <a:pPr marL="0" indent="0" algn="ctr">
              <a:buNone/>
            </a:pPr>
            <a:r>
              <a:rPr lang="en-US" sz="2600" b="1" dirty="0">
                <a:solidFill>
                  <a:srgbClr val="12263F"/>
                </a:solidFill>
                <a:latin typeface="Calibri" pitchFamily="34" charset="0"/>
                <a:ea typeface="Calibri" pitchFamily="34" charset="-122"/>
                <a:cs typeface="Calibri" pitchFamily="34" charset="-120"/>
              </a:rPr>
              <a:t>$8.58M</a:t>
            </a:r>
            <a:endParaRPr lang="en-US" sz="2600" dirty="0"/>
          </a:p>
        </p:txBody>
      </p:sp>
      <p:sp>
        <p:nvSpPr>
          <p:cNvPr id="6" name="Text 4"/>
          <p:cNvSpPr txBox="1"/>
          <p:nvPr/>
        </p:nvSpPr>
        <p:spPr>
          <a:xfrm>
            <a:off x="548640" y="1965960"/>
            <a:ext cx="1874520" cy="274320"/>
          </a:xfrm>
          <a:prstGeom prst="rect">
            <a:avLst/>
          </a:prstGeom>
          <a:noFill/>
          <a:ln/>
        </p:spPr>
        <p:txBody>
          <a:bodyPr wrap="square" lIns="0" tIns="0" rIns="0" bIns="0" rtlCol="0" anchor="ctr"/>
          <a:lstStyle/>
          <a:p>
            <a:pPr marL="0" indent="0" algn="ctr">
              <a:buNone/>
            </a:pPr>
            <a:r>
              <a:rPr lang="en-US" sz="1100" dirty="0">
                <a:solidFill>
                  <a:srgbClr val="5B6B7B"/>
                </a:solidFill>
                <a:latin typeface="Calibri" pitchFamily="34" charset="0"/>
                <a:ea typeface="Calibri" pitchFamily="34" charset="-122"/>
                <a:cs typeface="Calibri" pitchFamily="34" charset="-120"/>
              </a:rPr>
              <a:t>Revenue</a:t>
            </a:r>
            <a:endParaRPr lang="en-US" sz="1100" dirty="0"/>
          </a:p>
        </p:txBody>
      </p:sp>
      <p:sp>
        <p:nvSpPr>
          <p:cNvPr id="7" name="Shape 5"/>
          <p:cNvSpPr/>
          <p:nvPr/>
        </p:nvSpPr>
        <p:spPr>
          <a:xfrm>
            <a:off x="2606040" y="1371600"/>
            <a:ext cx="1874520" cy="960120"/>
          </a:xfrm>
          <a:prstGeom prst="roundRect">
            <a:avLst>
              <a:gd name="adj" fmla="val 7619"/>
            </a:avLst>
          </a:prstGeom>
          <a:solidFill>
            <a:srgbClr val="EEF3F7"/>
          </a:solidFill>
          <a:ln/>
          <a:effectLst>
            <a:outerShdw blurRad="76200" dist="25400" dir="5400000" algn="bl" rotWithShape="0">
              <a:srgbClr val="000000">
                <a:alpha val="12000"/>
              </a:srgbClr>
            </a:outerShdw>
          </a:effectLst>
        </p:spPr>
        <p:txBody>
          <a:bodyPr/>
          <a:lstStyle/>
          <a:p>
            <a:endParaRPr lang="en-IN"/>
          </a:p>
        </p:txBody>
      </p:sp>
      <p:sp>
        <p:nvSpPr>
          <p:cNvPr id="8" name="Text 6"/>
          <p:cNvSpPr txBox="1"/>
          <p:nvPr/>
        </p:nvSpPr>
        <p:spPr>
          <a:xfrm>
            <a:off x="2606040" y="1463040"/>
            <a:ext cx="1874520" cy="502920"/>
          </a:xfrm>
          <a:prstGeom prst="rect">
            <a:avLst/>
          </a:prstGeom>
          <a:noFill/>
          <a:ln/>
        </p:spPr>
        <p:txBody>
          <a:bodyPr wrap="square" lIns="0" tIns="0" rIns="0" bIns="0" rtlCol="0" anchor="ctr"/>
          <a:lstStyle/>
          <a:p>
            <a:pPr marL="0" indent="0" algn="ctr">
              <a:buNone/>
            </a:pPr>
            <a:r>
              <a:rPr lang="en-US" sz="2600" b="1" dirty="0">
                <a:solidFill>
                  <a:srgbClr val="12263F"/>
                </a:solidFill>
                <a:latin typeface="Calibri" pitchFamily="34" charset="0"/>
                <a:ea typeface="Calibri" pitchFamily="34" charset="-122"/>
                <a:cs typeface="Calibri" pitchFamily="34" charset="-120"/>
              </a:rPr>
              <a:t>1,615</a:t>
            </a:r>
            <a:endParaRPr lang="en-US" sz="2600" dirty="0"/>
          </a:p>
        </p:txBody>
      </p:sp>
      <p:sp>
        <p:nvSpPr>
          <p:cNvPr id="9" name="Text 7"/>
          <p:cNvSpPr txBox="1"/>
          <p:nvPr/>
        </p:nvSpPr>
        <p:spPr>
          <a:xfrm>
            <a:off x="2606040" y="1965960"/>
            <a:ext cx="1874520" cy="274320"/>
          </a:xfrm>
          <a:prstGeom prst="rect">
            <a:avLst/>
          </a:prstGeom>
          <a:noFill/>
          <a:ln/>
        </p:spPr>
        <p:txBody>
          <a:bodyPr wrap="square" lIns="0" tIns="0" rIns="0" bIns="0" rtlCol="0" anchor="ctr"/>
          <a:lstStyle/>
          <a:p>
            <a:pPr marL="0" indent="0" algn="ctr">
              <a:buNone/>
            </a:pPr>
            <a:r>
              <a:rPr lang="en-US" sz="1100" dirty="0">
                <a:solidFill>
                  <a:srgbClr val="5B6B7B"/>
                </a:solidFill>
                <a:latin typeface="Calibri" pitchFamily="34" charset="0"/>
                <a:ea typeface="Calibri" pitchFamily="34" charset="-122"/>
                <a:cs typeface="Calibri" pitchFamily="34" charset="-120"/>
              </a:rPr>
              <a:t>Orders</a:t>
            </a:r>
            <a:endParaRPr lang="en-US" sz="1100" dirty="0"/>
          </a:p>
        </p:txBody>
      </p:sp>
      <p:sp>
        <p:nvSpPr>
          <p:cNvPr id="10" name="Shape 8"/>
          <p:cNvSpPr/>
          <p:nvPr/>
        </p:nvSpPr>
        <p:spPr>
          <a:xfrm>
            <a:off x="4663440" y="1371600"/>
            <a:ext cx="1874520" cy="960120"/>
          </a:xfrm>
          <a:prstGeom prst="roundRect">
            <a:avLst>
              <a:gd name="adj" fmla="val 7619"/>
            </a:avLst>
          </a:prstGeom>
          <a:solidFill>
            <a:srgbClr val="EEF3F7"/>
          </a:solidFill>
          <a:ln/>
          <a:effectLst>
            <a:outerShdw blurRad="76200" dist="25400" dir="5400000" algn="bl" rotWithShape="0">
              <a:srgbClr val="000000">
                <a:alpha val="12000"/>
              </a:srgbClr>
            </a:outerShdw>
          </a:effectLst>
        </p:spPr>
        <p:txBody>
          <a:bodyPr/>
          <a:lstStyle/>
          <a:p>
            <a:endParaRPr lang="en-IN"/>
          </a:p>
        </p:txBody>
      </p:sp>
      <p:sp>
        <p:nvSpPr>
          <p:cNvPr id="11" name="Text 9"/>
          <p:cNvSpPr txBox="1"/>
          <p:nvPr/>
        </p:nvSpPr>
        <p:spPr>
          <a:xfrm>
            <a:off x="4663440" y="1463040"/>
            <a:ext cx="1874520" cy="502920"/>
          </a:xfrm>
          <a:prstGeom prst="rect">
            <a:avLst/>
          </a:prstGeom>
          <a:noFill/>
          <a:ln/>
        </p:spPr>
        <p:txBody>
          <a:bodyPr wrap="square" lIns="0" tIns="0" rIns="0" bIns="0" rtlCol="0" anchor="ctr"/>
          <a:lstStyle/>
          <a:p>
            <a:pPr marL="0" indent="0" algn="ctr">
              <a:buNone/>
            </a:pPr>
            <a:r>
              <a:rPr lang="en-US" sz="2600" b="1" dirty="0">
                <a:solidFill>
                  <a:srgbClr val="12263F"/>
                </a:solidFill>
                <a:latin typeface="Calibri" pitchFamily="34" charset="0"/>
                <a:ea typeface="Calibri" pitchFamily="34" charset="-122"/>
                <a:cs typeface="Calibri" pitchFamily="34" charset="-120"/>
              </a:rPr>
              <a:t>7,078</a:t>
            </a:r>
            <a:endParaRPr lang="en-US" sz="2600" dirty="0"/>
          </a:p>
        </p:txBody>
      </p:sp>
      <p:sp>
        <p:nvSpPr>
          <p:cNvPr id="12" name="Text 10"/>
          <p:cNvSpPr txBox="1"/>
          <p:nvPr/>
        </p:nvSpPr>
        <p:spPr>
          <a:xfrm>
            <a:off x="4663440" y="1965960"/>
            <a:ext cx="1874520" cy="274320"/>
          </a:xfrm>
          <a:prstGeom prst="rect">
            <a:avLst/>
          </a:prstGeom>
          <a:noFill/>
          <a:ln/>
        </p:spPr>
        <p:txBody>
          <a:bodyPr wrap="square" lIns="0" tIns="0" rIns="0" bIns="0" rtlCol="0" anchor="ctr"/>
          <a:lstStyle/>
          <a:p>
            <a:pPr marL="0" indent="0" algn="ctr">
              <a:buNone/>
            </a:pPr>
            <a:r>
              <a:rPr lang="en-US" sz="1100" dirty="0">
                <a:solidFill>
                  <a:srgbClr val="5B6B7B"/>
                </a:solidFill>
                <a:latin typeface="Calibri" pitchFamily="34" charset="0"/>
                <a:ea typeface="Calibri" pitchFamily="34" charset="-122"/>
                <a:cs typeface="Calibri" pitchFamily="34" charset="-120"/>
              </a:rPr>
              <a:t>Units sold</a:t>
            </a:r>
            <a:endParaRPr lang="en-US" sz="1100" dirty="0"/>
          </a:p>
        </p:txBody>
      </p:sp>
      <p:sp>
        <p:nvSpPr>
          <p:cNvPr id="13" name="Shape 11"/>
          <p:cNvSpPr/>
          <p:nvPr/>
        </p:nvSpPr>
        <p:spPr>
          <a:xfrm>
            <a:off x="6720840" y="1371600"/>
            <a:ext cx="1874520" cy="960120"/>
          </a:xfrm>
          <a:prstGeom prst="roundRect">
            <a:avLst>
              <a:gd name="adj" fmla="val 7619"/>
            </a:avLst>
          </a:prstGeom>
          <a:solidFill>
            <a:srgbClr val="EEF3F7"/>
          </a:solidFill>
          <a:ln/>
          <a:effectLst>
            <a:outerShdw blurRad="76200" dist="25400" dir="5400000" algn="bl" rotWithShape="0">
              <a:srgbClr val="000000">
                <a:alpha val="12000"/>
              </a:srgbClr>
            </a:outerShdw>
          </a:effectLst>
        </p:spPr>
        <p:txBody>
          <a:bodyPr/>
          <a:lstStyle/>
          <a:p>
            <a:endParaRPr lang="en-IN"/>
          </a:p>
        </p:txBody>
      </p:sp>
      <p:sp>
        <p:nvSpPr>
          <p:cNvPr id="14" name="Text 12"/>
          <p:cNvSpPr txBox="1"/>
          <p:nvPr/>
        </p:nvSpPr>
        <p:spPr>
          <a:xfrm>
            <a:off x="6720840" y="1463040"/>
            <a:ext cx="1874520" cy="502920"/>
          </a:xfrm>
          <a:prstGeom prst="rect">
            <a:avLst/>
          </a:prstGeom>
          <a:noFill/>
          <a:ln/>
        </p:spPr>
        <p:txBody>
          <a:bodyPr wrap="square" lIns="0" tIns="0" rIns="0" bIns="0" rtlCol="0" anchor="ctr"/>
          <a:lstStyle/>
          <a:p>
            <a:pPr marL="0" indent="0" algn="ctr">
              <a:buNone/>
            </a:pPr>
            <a:r>
              <a:rPr lang="en-US" sz="2600" b="1" dirty="0">
                <a:solidFill>
                  <a:srgbClr val="12263F"/>
                </a:solidFill>
                <a:latin typeface="Calibri" pitchFamily="34" charset="0"/>
                <a:ea typeface="Calibri" pitchFamily="34" charset="-122"/>
                <a:cs typeface="Calibri" pitchFamily="34" charset="-120"/>
              </a:rPr>
              <a:t>1,445</a:t>
            </a:r>
            <a:endParaRPr lang="en-US" sz="2600" dirty="0"/>
          </a:p>
        </p:txBody>
      </p:sp>
      <p:sp>
        <p:nvSpPr>
          <p:cNvPr id="15" name="Text 13"/>
          <p:cNvSpPr txBox="1"/>
          <p:nvPr/>
        </p:nvSpPr>
        <p:spPr>
          <a:xfrm>
            <a:off x="6720840" y="1965960"/>
            <a:ext cx="1874520" cy="274320"/>
          </a:xfrm>
          <a:prstGeom prst="rect">
            <a:avLst/>
          </a:prstGeom>
          <a:noFill/>
          <a:ln/>
        </p:spPr>
        <p:txBody>
          <a:bodyPr wrap="square" lIns="0" tIns="0" rIns="0" bIns="0" rtlCol="0" anchor="ctr"/>
          <a:lstStyle/>
          <a:p>
            <a:pPr marL="0" indent="0" algn="ctr">
              <a:buNone/>
            </a:pPr>
            <a:r>
              <a:rPr lang="en-US" sz="1100" dirty="0">
                <a:solidFill>
                  <a:srgbClr val="5B6B7B"/>
                </a:solidFill>
                <a:latin typeface="Calibri" pitchFamily="34" charset="0"/>
                <a:ea typeface="Calibri" pitchFamily="34" charset="-122"/>
                <a:cs typeface="Calibri" pitchFamily="34" charset="-120"/>
              </a:rPr>
              <a:t>Customers</a:t>
            </a:r>
            <a:endParaRPr lang="en-US" sz="1100" dirty="0"/>
          </a:p>
        </p:txBody>
      </p:sp>
      <p:sp>
        <p:nvSpPr>
          <p:cNvPr id="16" name="Text 14"/>
          <p:cNvSpPr txBox="1"/>
          <p:nvPr/>
        </p:nvSpPr>
        <p:spPr>
          <a:xfrm>
            <a:off x="548640" y="2651760"/>
            <a:ext cx="804672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Finally, I created an interactive dashboard using </a:t>
            </a:r>
            <a:r>
              <a:rPr lang="en-US" sz="1400" b="1" dirty="0">
                <a:solidFill>
                  <a:schemeClr val="tx1">
                    <a:lumMod val="95000"/>
                    <a:lumOff val="5000"/>
                  </a:schemeClr>
                </a:solidFill>
                <a:latin typeface="Calibri" pitchFamily="34" charset="0"/>
                <a:ea typeface="Calibri" pitchFamily="34" charset="-122"/>
                <a:cs typeface="Calibri" pitchFamily="34" charset="-120"/>
              </a:rPr>
              <a:t>POWER BI</a:t>
            </a:r>
            <a:r>
              <a:rPr lang="en-US" sz="1400" dirty="0">
                <a:solidFill>
                  <a:schemeClr val="tx1">
                    <a:lumMod val="95000"/>
                    <a:lumOff val="5000"/>
                  </a:schemeClr>
                </a:solidFill>
                <a:latin typeface="Calibri" pitchFamily="34" charset="0"/>
                <a:ea typeface="Calibri" pitchFamily="34" charset="-122"/>
                <a:cs typeface="Calibri" pitchFamily="34" charset="-120"/>
              </a:rPr>
              <a:t>.</a:t>
            </a:r>
            <a:endParaRPr lang="en-US" sz="1400" dirty="0">
              <a:solidFill>
                <a:schemeClr val="tx1">
                  <a:lumMod val="95000"/>
                  <a:lumOff val="5000"/>
                </a:schemeClr>
              </a:solidFill>
            </a:endParaRPr>
          </a:p>
          <a:p>
            <a:pPr marL="342900" indent="-342900">
              <a:spcAft>
                <a:spcPts val="8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I Used some like KPIs </a:t>
            </a:r>
            <a:r>
              <a:rPr lang="en-US" sz="1400" b="1" dirty="0">
                <a:solidFill>
                  <a:schemeClr val="tx1">
                    <a:lumMod val="95000"/>
                    <a:lumOff val="5000"/>
                  </a:schemeClr>
                </a:solidFill>
                <a:latin typeface="Calibri" pitchFamily="34" charset="0"/>
                <a:ea typeface="Calibri" pitchFamily="34" charset="-122"/>
                <a:cs typeface="Calibri" pitchFamily="34" charset="-120"/>
              </a:rPr>
              <a:t>Revenue, Total Orders, Unit sold, and  Total customers.</a:t>
            </a:r>
            <a:endParaRPr lang="en-US" sz="1400" b="1" dirty="0">
              <a:solidFill>
                <a:schemeClr val="tx1">
                  <a:lumMod val="95000"/>
                  <a:lumOff val="5000"/>
                </a:schemeClr>
              </a:solidFill>
            </a:endParaRPr>
          </a:p>
          <a:p>
            <a:pPr marL="342900" indent="-342900">
              <a:spcAft>
                <a:spcPts val="8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Added slicers and buttons for interactive exploration .</a:t>
            </a:r>
            <a:endParaRPr lang="en-US" sz="1400" dirty="0">
              <a:solidFill>
                <a:schemeClr val="tx1">
                  <a:lumMod val="95000"/>
                  <a:lumOff val="5000"/>
                </a:schemeClr>
              </a:solidFill>
            </a:endParaRPr>
          </a:p>
          <a:p>
            <a:pPr marL="342900" indent="-342900">
              <a:spcAft>
                <a:spcPts val="800"/>
              </a:spcAft>
              <a:buSzPct val="100000"/>
              <a:buChar char="•"/>
            </a:pPr>
            <a:r>
              <a:rPr lang="en-US" sz="1400" dirty="0">
                <a:solidFill>
                  <a:schemeClr val="tx1">
                    <a:lumMod val="95000"/>
                    <a:lumOff val="5000"/>
                  </a:schemeClr>
                </a:solidFill>
              </a:rPr>
              <a:t>This helps users easily filter and understand the data .</a:t>
            </a:r>
          </a:p>
        </p:txBody>
      </p:sp>
      <p:sp>
        <p:nvSpPr>
          <p:cNvPr id="18" name="Text 16"/>
          <p:cNvSpPr txBox="1"/>
          <p:nvPr/>
        </p:nvSpPr>
        <p:spPr>
          <a:xfrm>
            <a:off x="8138160" y="4754880"/>
            <a:ext cx="457200" cy="22860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marL="0" indent="0">
              <a:buNone/>
            </a:pPr>
            <a:r>
              <a:rPr lang="en-US" sz="2800" b="1" dirty="0">
                <a:solidFill>
                  <a:srgbClr val="12263F"/>
                </a:solidFill>
                <a:latin typeface="Calibri" pitchFamily="34" charset="0"/>
                <a:ea typeface="Calibri" pitchFamily="34" charset="-122"/>
                <a:cs typeface="Calibri" pitchFamily="34" charset="-120"/>
              </a:rPr>
              <a:t>Key Insights</a:t>
            </a:r>
            <a:endParaRPr lang="en-US" sz="2800" dirty="0"/>
          </a:p>
        </p:txBody>
      </p:sp>
      <p:graphicFrame>
        <p:nvGraphicFramePr>
          <p:cNvPr id="3" name="Chart 0"/>
          <p:cNvGraphicFramePr/>
          <p:nvPr/>
        </p:nvGraphicFramePr>
        <p:xfrm>
          <a:off x="548640" y="1280160"/>
          <a:ext cx="38404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4754880" y="1280160"/>
            <a:ext cx="3840480" cy="960120"/>
          </a:xfrm>
          <a:prstGeom prst="roundRect">
            <a:avLst>
              <a:gd name="adj" fmla="val 7619"/>
            </a:avLst>
          </a:prstGeom>
          <a:solidFill>
            <a:srgbClr val="EEF3F7"/>
          </a:solidFill>
          <a:ln/>
          <a:effectLst>
            <a:outerShdw blurRad="76200" dist="25400" dir="5400000" algn="bl" rotWithShape="0">
              <a:srgbClr val="000000">
                <a:alpha val="12000"/>
              </a:srgbClr>
            </a:outerShdw>
          </a:effectLst>
        </p:spPr>
        <p:txBody>
          <a:bodyPr/>
          <a:lstStyle/>
          <a:p>
            <a:endParaRPr lang="en-IN"/>
          </a:p>
        </p:txBody>
      </p:sp>
      <p:sp>
        <p:nvSpPr>
          <p:cNvPr id="5" name="Text 2"/>
          <p:cNvSpPr txBox="1"/>
          <p:nvPr/>
        </p:nvSpPr>
        <p:spPr>
          <a:xfrm>
            <a:off x="4937760" y="1389888"/>
            <a:ext cx="3474720" cy="320040"/>
          </a:xfrm>
          <a:prstGeom prst="rect">
            <a:avLst/>
          </a:prstGeom>
          <a:noFill/>
          <a:ln/>
        </p:spPr>
        <p:txBody>
          <a:bodyPr wrap="square" lIns="0" tIns="0" rIns="0" bIns="0" rtlCol="0" anchor="ctr"/>
          <a:lstStyle/>
          <a:p>
            <a:pPr marL="0" indent="0">
              <a:buNone/>
            </a:pPr>
            <a:r>
              <a:rPr lang="en-US" sz="1500" b="1" dirty="0">
                <a:solidFill>
                  <a:srgbClr val="0F9D9A"/>
                </a:solidFill>
                <a:latin typeface="Calibri" pitchFamily="34" charset="0"/>
                <a:ea typeface="Calibri" pitchFamily="34" charset="-122"/>
                <a:cs typeface="Calibri" pitchFamily="34" charset="-120"/>
              </a:rPr>
              <a:t>68% from one store</a:t>
            </a:r>
            <a:endParaRPr lang="en-US" sz="1500" dirty="0"/>
          </a:p>
        </p:txBody>
      </p:sp>
      <p:sp>
        <p:nvSpPr>
          <p:cNvPr id="6" name="Text 3"/>
          <p:cNvSpPr txBox="1"/>
          <p:nvPr/>
        </p:nvSpPr>
        <p:spPr>
          <a:xfrm>
            <a:off x="4937760" y="1737360"/>
            <a:ext cx="3474720" cy="411480"/>
          </a:xfrm>
          <a:prstGeom prst="rect">
            <a:avLst/>
          </a:prstGeom>
          <a:noFill/>
          <a:ln/>
        </p:spPr>
        <p:txBody>
          <a:bodyPr wrap="square" lIns="0" tIns="0" rIns="0" bIns="0" rtlCol="0" anchor="t"/>
          <a:lstStyle/>
          <a:p>
            <a:pPr marL="0" indent="0">
              <a:buNone/>
            </a:pPr>
            <a:r>
              <a:rPr lang="en-US" sz="1200" dirty="0">
                <a:solidFill>
                  <a:srgbClr val="1B2B3A"/>
                </a:solidFill>
                <a:latin typeface="Calibri" pitchFamily="34" charset="0"/>
                <a:ea typeface="Calibri" pitchFamily="34" charset="-122"/>
                <a:cs typeface="Calibri" pitchFamily="34" charset="-120"/>
              </a:rPr>
              <a:t>Baldwin Bikes (NY) drives most revenue.</a:t>
            </a:r>
            <a:endParaRPr lang="en-US" sz="1200" dirty="0"/>
          </a:p>
        </p:txBody>
      </p:sp>
      <p:sp>
        <p:nvSpPr>
          <p:cNvPr id="7" name="Shape 4"/>
          <p:cNvSpPr/>
          <p:nvPr/>
        </p:nvSpPr>
        <p:spPr>
          <a:xfrm>
            <a:off x="4754880" y="2377440"/>
            <a:ext cx="3840480" cy="960120"/>
          </a:xfrm>
          <a:prstGeom prst="roundRect">
            <a:avLst>
              <a:gd name="adj" fmla="val 7619"/>
            </a:avLst>
          </a:prstGeom>
          <a:solidFill>
            <a:srgbClr val="EEF3F7"/>
          </a:solidFill>
          <a:ln/>
          <a:effectLst>
            <a:outerShdw blurRad="76200" dist="25400" dir="5400000" algn="bl" rotWithShape="0">
              <a:srgbClr val="000000">
                <a:alpha val="12000"/>
              </a:srgbClr>
            </a:outerShdw>
          </a:effectLst>
        </p:spPr>
        <p:txBody>
          <a:bodyPr/>
          <a:lstStyle/>
          <a:p>
            <a:endParaRPr lang="en-IN"/>
          </a:p>
        </p:txBody>
      </p:sp>
      <p:sp>
        <p:nvSpPr>
          <p:cNvPr id="8" name="Text 5"/>
          <p:cNvSpPr txBox="1"/>
          <p:nvPr/>
        </p:nvSpPr>
        <p:spPr>
          <a:xfrm>
            <a:off x="4937760" y="2487168"/>
            <a:ext cx="3474720" cy="320040"/>
          </a:xfrm>
          <a:prstGeom prst="rect">
            <a:avLst/>
          </a:prstGeom>
          <a:noFill/>
          <a:ln/>
        </p:spPr>
        <p:txBody>
          <a:bodyPr wrap="square" lIns="0" tIns="0" rIns="0" bIns="0" rtlCol="0" anchor="ctr"/>
          <a:lstStyle/>
          <a:p>
            <a:pPr marL="0" indent="0">
              <a:buNone/>
            </a:pPr>
            <a:r>
              <a:rPr lang="en-US" sz="1500" b="1" dirty="0">
                <a:solidFill>
                  <a:srgbClr val="0F9D9A"/>
                </a:solidFill>
                <a:latin typeface="Calibri" pitchFamily="34" charset="0"/>
                <a:ea typeface="Calibri" pitchFamily="34" charset="-122"/>
                <a:cs typeface="Calibri" pitchFamily="34" charset="-120"/>
              </a:rPr>
              <a:t>Mountain Bikes lead</a:t>
            </a:r>
            <a:endParaRPr lang="en-US" sz="1500" dirty="0"/>
          </a:p>
        </p:txBody>
      </p:sp>
      <p:sp>
        <p:nvSpPr>
          <p:cNvPr id="9" name="Text 6"/>
          <p:cNvSpPr txBox="1"/>
          <p:nvPr/>
        </p:nvSpPr>
        <p:spPr>
          <a:xfrm>
            <a:off x="4937760" y="2834640"/>
            <a:ext cx="3474720" cy="411480"/>
          </a:xfrm>
          <a:prstGeom prst="rect">
            <a:avLst/>
          </a:prstGeom>
          <a:noFill/>
          <a:ln/>
        </p:spPr>
        <p:txBody>
          <a:bodyPr wrap="square" lIns="0" tIns="0" rIns="0" bIns="0" rtlCol="0" anchor="t"/>
          <a:lstStyle/>
          <a:p>
            <a:pPr marL="0" indent="0">
              <a:buNone/>
            </a:pPr>
            <a:r>
              <a:rPr lang="en-US" sz="1200" dirty="0">
                <a:solidFill>
                  <a:srgbClr val="1B2B3A"/>
                </a:solidFill>
                <a:latin typeface="Calibri" pitchFamily="34" charset="0"/>
                <a:ea typeface="Calibri" pitchFamily="34" charset="-122"/>
                <a:cs typeface="Calibri" pitchFamily="34" charset="-120"/>
              </a:rPr>
              <a:t>About 35% of revenue ($3.03M).</a:t>
            </a:r>
            <a:endParaRPr lang="en-US" sz="1200" dirty="0"/>
          </a:p>
        </p:txBody>
      </p:sp>
      <p:sp>
        <p:nvSpPr>
          <p:cNvPr id="10" name="Shape 7"/>
          <p:cNvSpPr/>
          <p:nvPr/>
        </p:nvSpPr>
        <p:spPr>
          <a:xfrm>
            <a:off x="4754880" y="3474720"/>
            <a:ext cx="3840480" cy="960120"/>
          </a:xfrm>
          <a:prstGeom prst="roundRect">
            <a:avLst>
              <a:gd name="adj" fmla="val 7619"/>
            </a:avLst>
          </a:prstGeom>
          <a:solidFill>
            <a:srgbClr val="EEF3F7"/>
          </a:solidFill>
          <a:ln/>
          <a:effectLst>
            <a:outerShdw blurRad="76200" dist="25400" dir="5400000" algn="bl" rotWithShape="0">
              <a:srgbClr val="000000">
                <a:alpha val="12000"/>
              </a:srgbClr>
            </a:outerShdw>
          </a:effectLst>
        </p:spPr>
        <p:txBody>
          <a:bodyPr/>
          <a:lstStyle/>
          <a:p>
            <a:endParaRPr lang="en-IN"/>
          </a:p>
        </p:txBody>
      </p:sp>
      <p:sp>
        <p:nvSpPr>
          <p:cNvPr id="11" name="Text 8"/>
          <p:cNvSpPr txBox="1"/>
          <p:nvPr/>
        </p:nvSpPr>
        <p:spPr>
          <a:xfrm>
            <a:off x="4937760" y="3584448"/>
            <a:ext cx="3474720" cy="320040"/>
          </a:xfrm>
          <a:prstGeom prst="rect">
            <a:avLst/>
          </a:prstGeom>
          <a:noFill/>
          <a:ln/>
        </p:spPr>
        <p:txBody>
          <a:bodyPr wrap="square" lIns="0" tIns="0" rIns="0" bIns="0" rtlCol="0" anchor="ctr"/>
          <a:lstStyle/>
          <a:p>
            <a:pPr marL="0" indent="0">
              <a:buNone/>
            </a:pPr>
            <a:r>
              <a:rPr lang="en-US" sz="1500" b="1" dirty="0">
                <a:solidFill>
                  <a:srgbClr val="0F9D9A"/>
                </a:solidFill>
                <a:latin typeface="Calibri" pitchFamily="34" charset="0"/>
                <a:ea typeface="Calibri" pitchFamily="34" charset="-122"/>
                <a:cs typeface="Calibri" pitchFamily="34" charset="-120"/>
              </a:rPr>
              <a:t>2017 was the peak year</a:t>
            </a:r>
            <a:endParaRPr lang="en-US" sz="1500" dirty="0"/>
          </a:p>
        </p:txBody>
      </p:sp>
      <p:sp>
        <p:nvSpPr>
          <p:cNvPr id="12" name="Text 9"/>
          <p:cNvSpPr txBox="1"/>
          <p:nvPr/>
        </p:nvSpPr>
        <p:spPr>
          <a:xfrm>
            <a:off x="4937760" y="3931920"/>
            <a:ext cx="3474720" cy="411480"/>
          </a:xfrm>
          <a:prstGeom prst="rect">
            <a:avLst/>
          </a:prstGeom>
          <a:noFill/>
          <a:ln/>
        </p:spPr>
        <p:txBody>
          <a:bodyPr wrap="square" lIns="0" tIns="0" rIns="0" bIns="0" rtlCol="0" anchor="t"/>
          <a:lstStyle/>
          <a:p>
            <a:pPr marL="0" indent="0">
              <a:buNone/>
            </a:pPr>
            <a:r>
              <a:rPr lang="en-US" sz="1200" dirty="0">
                <a:solidFill>
                  <a:srgbClr val="1B2B3A"/>
                </a:solidFill>
                <a:latin typeface="Calibri" pitchFamily="34" charset="0"/>
                <a:ea typeface="Calibri" pitchFamily="34" charset="-122"/>
                <a:cs typeface="Calibri" pitchFamily="34" charset="-120"/>
              </a:rPr>
              <a:t>$3.85M, versus $2.71M in 2016.</a:t>
            </a:r>
            <a:endParaRPr lang="en-US" sz="1200" dirty="0"/>
          </a:p>
        </p:txBody>
      </p:sp>
      <p:sp>
        <p:nvSpPr>
          <p:cNvPr id="14" name="Text 11"/>
          <p:cNvSpPr txBox="1"/>
          <p:nvPr/>
        </p:nvSpPr>
        <p:spPr>
          <a:xfrm>
            <a:off x="8138160" y="4754880"/>
            <a:ext cx="457200" cy="228600"/>
          </a:xfrm>
          <a:prstGeom prst="rect">
            <a:avLst/>
          </a:prstGeom>
          <a:noFill/>
          <a:ln/>
        </p:spPr>
        <p:txBody>
          <a:bodyPr wrap="square" lIns="0" tIns="0" rIns="0" bIns="0" rtlCol="0" anchor="ctr"/>
          <a:lstStyle/>
          <a:p>
            <a:pPr marL="0" indent="0" algn="r">
              <a:buNone/>
            </a:pPr>
            <a:r>
              <a:rPr lang="en-US" sz="1000" dirty="0">
                <a:solidFill>
                  <a:srgbClr val="5B6B7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63F"/>
        </a:solidFill>
        <a:effectLst/>
      </p:bgPr>
    </p:bg>
    <p:spTree>
      <p:nvGrpSpPr>
        <p:cNvPr id="1" name=""/>
        <p:cNvGrpSpPr/>
        <p:nvPr/>
      </p:nvGrpSpPr>
      <p:grpSpPr>
        <a:xfrm>
          <a:off x="0" y="0"/>
          <a:ext cx="0" cy="0"/>
          <a:chOff x="0" y="0"/>
          <a:chExt cx="0" cy="0"/>
        </a:xfrm>
      </p:grpSpPr>
      <p:sp>
        <p:nvSpPr>
          <p:cNvPr id="2" name="Text 0"/>
          <p:cNvSpPr txBox="1"/>
          <p:nvPr/>
        </p:nvSpPr>
        <p:spPr>
          <a:xfrm>
            <a:off x="651231" y="457200"/>
            <a:ext cx="786384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Conclusion </a:t>
            </a:r>
            <a:endParaRPr lang="en-US" sz="3000" dirty="0"/>
          </a:p>
        </p:txBody>
      </p:sp>
      <p:sp>
        <p:nvSpPr>
          <p:cNvPr id="3" name="Text 1"/>
          <p:cNvSpPr txBox="1"/>
          <p:nvPr/>
        </p:nvSpPr>
        <p:spPr>
          <a:xfrm>
            <a:off x="640080" y="1371600"/>
            <a:ext cx="7863840" cy="17373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Excel was used for cleaning.</a:t>
            </a:r>
            <a:endParaRPr lang="en-US" sz="1800" dirty="0"/>
          </a:p>
          <a:p>
            <a:pPr marL="342900" indent="-342900">
              <a:spcAft>
                <a:spcPts val="800"/>
              </a:spcAft>
              <a:buSzPct val="100000"/>
              <a:buChar char="•"/>
            </a:pPr>
            <a:r>
              <a:rPr lang="en-US" dirty="0">
                <a:solidFill>
                  <a:srgbClr val="FFFFFF"/>
                </a:solidFill>
                <a:latin typeface="Calibri" pitchFamily="34" charset="0"/>
                <a:ea typeface="Calibri" pitchFamily="34" charset="-122"/>
                <a:cs typeface="Calibri" pitchFamily="34" charset="-120"/>
              </a:rPr>
              <a:t>SQL was used for database analysis.</a:t>
            </a:r>
            <a:endParaRPr lang="en-US" sz="1800" dirty="0"/>
          </a:p>
          <a:p>
            <a:pPr marL="342900" indent="-342900">
              <a:spcAft>
                <a:spcPts val="800"/>
              </a:spcAft>
              <a:buSzPct val="100000"/>
              <a:buChar char="•"/>
            </a:pPr>
            <a:r>
              <a:rPr lang="en-US" dirty="0">
                <a:solidFill>
                  <a:srgbClr val="FFFFFF"/>
                </a:solidFill>
                <a:latin typeface="Calibri" pitchFamily="34" charset="0"/>
                <a:ea typeface="Calibri" pitchFamily="34" charset="-122"/>
                <a:cs typeface="Calibri" pitchFamily="34" charset="-120"/>
              </a:rPr>
              <a:t>Python was used for EDA and customer segmentation.</a:t>
            </a:r>
          </a:p>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Power bi was used to create the interactive dashbo</a:t>
            </a:r>
            <a:r>
              <a:rPr lang="en-US" dirty="0">
                <a:solidFill>
                  <a:srgbClr val="FFFFFF"/>
                </a:solidFill>
                <a:latin typeface="Calibri" pitchFamily="34" charset="0"/>
                <a:ea typeface="Calibri" pitchFamily="34" charset="-122"/>
                <a:cs typeface="Calibri" pitchFamily="34" charset="-120"/>
              </a:rPr>
              <a:t>ard.</a:t>
            </a:r>
            <a:endParaRPr lang="en-US" sz="1800" dirty="0"/>
          </a:p>
        </p:txBody>
      </p:sp>
      <p:sp>
        <p:nvSpPr>
          <p:cNvPr id="4" name="Text 2"/>
          <p:cNvSpPr txBox="1"/>
          <p:nvPr/>
        </p:nvSpPr>
        <p:spPr>
          <a:xfrm>
            <a:off x="2959534" y="4016670"/>
            <a:ext cx="7863840" cy="548640"/>
          </a:xfrm>
          <a:prstGeom prst="rect">
            <a:avLst/>
          </a:prstGeom>
          <a:noFill/>
          <a:ln/>
        </p:spPr>
        <p:txBody>
          <a:bodyPr wrap="square" lIns="0" tIns="0" rIns="0" bIns="0" rtlCol="0" anchor="ctr"/>
          <a:lstStyle/>
          <a:p>
            <a:pPr marL="0" indent="0">
              <a:buNone/>
            </a:pPr>
            <a:r>
              <a:rPr lang="en-US" sz="3000" b="1">
                <a:solidFill>
                  <a:srgbClr val="F2994A"/>
                </a:solidFill>
                <a:latin typeface="Calibri" pitchFamily="34" charset="0"/>
                <a:ea typeface="Calibri" pitchFamily="34" charset="-122"/>
                <a:cs typeface="Calibri" pitchFamily="34" charset="-120"/>
              </a:rPr>
              <a:t>                                                  </a:t>
            </a:r>
            <a:r>
              <a:rPr lang="en-US" sz="3000" b="1" dirty="0">
                <a:solidFill>
                  <a:srgbClr val="F2994A"/>
                </a:solidFill>
                <a:latin typeface="Calibri" pitchFamily="34" charset="0"/>
                <a:ea typeface="Calibri" pitchFamily="34" charset="-122"/>
                <a:cs typeface="Calibri" pitchFamily="34" charset="-120"/>
              </a:rPr>
              <a:t>Thank you!</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TotalTime>
  <Words>1049</Words>
  <Application>Microsoft Office PowerPoint</Application>
  <PresentationFormat>On-screen Show (16:9)</PresentationFormat>
  <Paragraphs>76</Paragraphs>
  <Slides>8</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Deepak Deepak.N</cp:lastModifiedBy>
  <cp:revision>7</cp:revision>
  <dcterms:created xsi:type="dcterms:W3CDTF">2026-09-21T07:35:44Z</dcterms:created>
  <dcterms:modified xsi:type="dcterms:W3CDTF">2026-09-26T06:17:07Z</dcterms:modified>
</cp:coreProperties>
</file>